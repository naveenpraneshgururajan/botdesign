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659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AI Evolution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CFBF1"/>
                </a:solidFill>
              </a:rPr>
              <a:t>From rules to reasoning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FBF1"/>
                </a:solidFill>
              </a:rPr>
              <a:t>Hackathon 2025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78892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43000"/>
            <a:ext cx="54864" cy="1325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1950s–1980s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" y="14356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Rule-based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Humans write every rule.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Flowcharts and if/then logic.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143000"/>
            <a:ext cx="2788920" cy="1325880"/>
          </a:xfrm>
          <a:prstGeom prst="rect">
            <a:avLst/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143000"/>
            <a:ext cx="54864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1990s–2000s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82696" y="14356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Machine Learning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82696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AI learns patterns from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thousands of examples.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2788920" cy="1325880"/>
          </a:xfrm>
          <a:prstGeom prst="rect">
            <a:avLst/>
          </a:prstGeom>
          <a:solidFill>
            <a:srgbClr val="2D1B69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143000"/>
            <a:ext cx="54864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2010s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08776" y="14356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 Learning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08776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Neural networks. AI beats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humans at image recognition.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606040"/>
            <a:ext cx="2788920" cy="1325880"/>
          </a:xfrm>
          <a:prstGeom prst="rect">
            <a:avLst/>
          </a:prstGeom>
          <a:solidFill>
            <a:srgbClr val="0F3D3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606040"/>
            <a:ext cx="54864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" y="269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2017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6616" y="28986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Transformers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6616" y="32004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AI reads whole sentences.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Context changes everything.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2606040"/>
            <a:ext cx="2788920" cy="1325880"/>
          </a:xfrm>
          <a:prstGeom prst="rect">
            <a:avLst/>
          </a:prstGeom>
          <a:solidFill>
            <a:srgbClr val="3D25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2606040"/>
            <a:ext cx="54864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269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2020–2022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82696" y="28986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LLMs arrive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82696" y="32004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GPT, Claude, Gemini. AI can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write, code, and reason.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2606040"/>
            <a:ext cx="2788920" cy="1325880"/>
          </a:xfrm>
          <a:prstGeom prst="rect">
            <a:avLst/>
          </a:prstGeom>
          <a:solidFill>
            <a:srgbClr val="052E16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2606040"/>
            <a:ext cx="54864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08776" y="269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2023–Now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08776" y="28986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Agents + MCP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08776" y="32004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AI takes actions, uses tools,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completes tasks autonomously.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Each phase built on the last. We're now at the most powerful era yet.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AI Terms — Simply Explained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627632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162763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155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1155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LLM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3533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E4FF"/>
                </a:solidFill>
              </a:rPr>
              <a:t>The Brain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1737360"/>
            <a:ext cx="14447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Trained on billions of text examples. Reads, writes, reasons. (Claude, GPT-4, Gemini)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3310128"/>
            <a:ext cx="1444752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274320" y="340156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7C3AED"/>
                </a:solidFill>
              </a:rPr>
              <a:t>Think of it as: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74320" y="361188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A person who read every book ever written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011680" y="1005840"/>
            <a:ext cx="1627632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11680" y="1005840"/>
            <a:ext cx="162763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111556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60320" y="11155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560320" y="13533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E4FF"/>
                </a:solidFill>
              </a:rPr>
              <a:t>Memory Lookup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103120" y="1737360"/>
            <a:ext cx="14447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Fetches your real data before answering. NOT a model — it's a technique.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103120" y="3310128"/>
            <a:ext cx="1444752" cy="0"/>
          </a:xfrm>
          <a:prstGeom prst="line">
            <a:avLst/>
          </a:prstGeom>
          <a:noFill/>
          <a:ln w="6350">
            <a:solidFill>
              <a:srgbClr val="2563EB"/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2103120" y="340156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2563EB"/>
                </a:solidFill>
              </a:rPr>
              <a:t>Think of it as: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103120" y="361188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Handing the brain the right document before it answers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840480" y="1005840"/>
            <a:ext cx="1627632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840480" y="1005840"/>
            <a:ext cx="1627632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1115568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0" y="11155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Agent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4389120" y="13533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E4FF"/>
                </a:solidFill>
              </a:rPr>
              <a:t>Takes Action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3931920" y="1737360"/>
            <a:ext cx="14447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Plans steps, uses tools, completes tasks. Goes beyond just answering questions.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931920" y="3310128"/>
            <a:ext cx="1444752" cy="0"/>
          </a:xfrm>
          <a:prstGeom prst="line">
            <a:avLst/>
          </a:prstGeom>
          <a:noFill/>
          <a:ln w="6350">
            <a:solidFill>
              <a:srgbClr val="059669"/>
            </a:solidFill>
            <a:prstDash val="dash"/>
          </a:ln>
        </p:spPr>
      </p:sp>
      <p:sp>
        <p:nvSpPr>
          <p:cNvPr id="29" name="Text 24"/>
          <p:cNvSpPr/>
          <p:nvPr/>
        </p:nvSpPr>
        <p:spPr>
          <a:xfrm>
            <a:off x="3931920" y="340156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059669"/>
                </a:solidFill>
              </a:rPr>
              <a:t>Think of it as: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3931920" y="361188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An assistant who actually gets things done for you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669280" y="1005840"/>
            <a:ext cx="1627632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669280" y="1005840"/>
            <a:ext cx="162763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08" y="1115568"/>
            <a:ext cx="384048" cy="38404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217920" y="11155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MCP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6217920" y="13533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E4FF"/>
                </a:solidFill>
              </a:rPr>
              <a:t>Universal Plug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5760720" y="1737360"/>
            <a:ext cx="14447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Standard connector so AI can talk to Slack, GitHub, Jira, DBs — no custom code.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5760720" y="3310128"/>
            <a:ext cx="1444752" cy="0"/>
          </a:xfrm>
          <a:prstGeom prst="line">
            <a:avLst/>
          </a:prstGeom>
          <a:noFill/>
          <a:ln w="6350">
            <a:solidFill>
              <a:srgbClr val="0D9488"/>
            </a:solidFill>
            <a:prstDash val="dash"/>
          </a:ln>
        </p:spPr>
      </p:sp>
      <p:sp>
        <p:nvSpPr>
          <p:cNvPr id="38" name="Text 32"/>
          <p:cNvSpPr/>
          <p:nvPr/>
        </p:nvSpPr>
        <p:spPr>
          <a:xfrm>
            <a:off x="5760720" y="340156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0D9488"/>
                </a:solidFill>
              </a:rPr>
              <a:t>Think of it as: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5760720" y="361188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USB-C but for AI tools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7498080" y="1005840"/>
            <a:ext cx="1627632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7498080" y="1005840"/>
            <a:ext cx="1627632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808" y="1115568"/>
            <a:ext cx="384048" cy="38404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8046720" y="11155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Vertex AI</a:t>
            </a:r>
            <a:endParaRPr lang="en-US" sz="1500" dirty="0"/>
          </a:p>
        </p:txBody>
      </p:sp>
      <p:sp>
        <p:nvSpPr>
          <p:cNvPr id="44" name="Text 37"/>
          <p:cNvSpPr/>
          <p:nvPr/>
        </p:nvSpPr>
        <p:spPr>
          <a:xfrm>
            <a:off x="8046720" y="13533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E4FF"/>
                </a:solidFill>
              </a:rPr>
              <a:t>The Platform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7589520" y="1737360"/>
            <a:ext cx="14447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Google Cloud's managed AI infrastructure. Deploy, monitor, and scale AI apps.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7589520" y="3310128"/>
            <a:ext cx="1444752" cy="0"/>
          </a:xfrm>
          <a:prstGeom prst="line">
            <a:avLst/>
          </a:prstGeom>
          <a:noFill/>
          <a:ln w="6350">
            <a:solidFill>
              <a:srgbClr val="D97706"/>
            </a:solidFill>
            <a:prstDash val="dash"/>
          </a:ln>
        </p:spPr>
      </p:sp>
      <p:sp>
        <p:nvSpPr>
          <p:cNvPr id="47" name="Text 40"/>
          <p:cNvSpPr/>
          <p:nvPr/>
        </p:nvSpPr>
        <p:spPr>
          <a:xfrm>
            <a:off x="7589520" y="340156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D97706"/>
                </a:solidFill>
              </a:rPr>
              <a:t>Think of it as: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7589520" y="361188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The power station — you just plug your AI app in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182880" y="4846320"/>
            <a:ext cx="877824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182880" y="48463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BF1"/>
                </a:solidFill>
              </a:rPr>
              <a:t>LLM  +  RAG  →  accurate knowledge   |   Agent  +  MCP  →  real actions   |   Vertex AI  →  where it all runs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They All Connect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841190"/>
            <a:ext cx="8814816" cy="4187952"/>
          </a:xfrm>
          <a:prstGeom prst="rect">
            <a:avLst/>
          </a:prstGeom>
          <a:solidFill>
            <a:srgbClr val="3D2506">
              <a:alpha val="15000"/>
            </a:srgbClr>
          </a:solidFill>
          <a:ln w="19050">
            <a:solidFill>
              <a:srgbClr val="D97706"/>
            </a:solidFill>
            <a:prstDash val="dash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8869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886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CD34D"/>
                </a:solidFill>
              </a:rPr>
              <a:t>Vertex AI  —  cloud infrastructure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669280" y="1143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92400E"/>
                </a:solidFill>
              </a:rPr>
              <a:t>Hosts &amp; runs all AI components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005840"/>
            <a:ext cx="292608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0058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Alert triggered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57400" y="1463040"/>
            <a:ext cx="0" cy="201168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651968"/>
            <a:ext cx="2926080" cy="566928"/>
          </a:xfrm>
          <a:prstGeom prst="rect">
            <a:avLst/>
          </a:prstGeom>
          <a:solidFill>
            <a:srgbClr val="052E16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1651968"/>
            <a:ext cx="64008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4088" y="1779984"/>
            <a:ext cx="274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" y="1779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75255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53896" y="17068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Agent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53896" y="19628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</a:rPr>
              <a:t>Receives alert. Plans &amp; orchestrates.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544560" y="1942632"/>
            <a:ext cx="1896120" cy="194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84448" y="1741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563EB"/>
                </a:solidFill>
              </a:rPr>
              <a:t>orchestrates →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440680" y="1664210"/>
            <a:ext cx="3200400" cy="566928"/>
          </a:xfrm>
          <a:prstGeom prst="rect">
            <a:avLst/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40680" y="1664210"/>
            <a:ext cx="6400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550408" y="1792226"/>
            <a:ext cx="274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550408" y="17922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764794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00216" y="171907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RAG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300216" y="197510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</a:rPr>
              <a:t>Fetches customer history &amp; transactions.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7040880" y="2240496"/>
            <a:ext cx="0" cy="603288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 flipV="1">
            <a:off x="3520440" y="2843783"/>
            <a:ext cx="3520440" cy="18283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307956" y="2416571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563EB"/>
                </a:solidFill>
              </a:rPr>
              <a:t>feeds context ↓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2057400" y="2240496"/>
            <a:ext cx="0" cy="304848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216152" y="2279590"/>
            <a:ext cx="912599" cy="217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7C3AED"/>
                </a:solidFill>
              </a:rPr>
              <a:t>feeds context ↓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94360" y="2560320"/>
            <a:ext cx="2926080" cy="566928"/>
          </a:xfrm>
          <a:prstGeom prst="rect">
            <a:avLst/>
          </a:prstGeom>
          <a:solidFill>
            <a:srgbClr val="2D1B69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94360" y="2560320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04088" y="2688336"/>
            <a:ext cx="27432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04088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2660904"/>
            <a:ext cx="329184" cy="3291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453896" y="2615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LLM  (Gemini on Vertex AI)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1453896" y="28712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</a:rPr>
              <a:t>Reads alert + history. Decides: flag or clear?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2057400" y="3163824"/>
            <a:ext cx="0" cy="269496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1528631" y="3214871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059669"/>
                </a:solidFill>
              </a:rPr>
              <a:t>Decides ↓ </a:t>
            </a:r>
          </a:p>
        </p:txBody>
      </p:sp>
      <p:sp>
        <p:nvSpPr>
          <p:cNvPr id="42" name="Shape 36"/>
          <p:cNvSpPr/>
          <p:nvPr/>
        </p:nvSpPr>
        <p:spPr>
          <a:xfrm>
            <a:off x="594360" y="3433320"/>
            <a:ext cx="2926080" cy="384048"/>
          </a:xfrm>
          <a:prstGeom prst="rect">
            <a:avLst/>
          </a:prstGeom>
          <a:solidFill>
            <a:srgbClr val="052E16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594360" y="3433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E7B7"/>
                </a:solidFill>
              </a:rPr>
              <a:t>Decision made  —  fraud confirmed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2057400" y="3817368"/>
            <a:ext cx="0" cy="32083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594360" y="4138200"/>
            <a:ext cx="2926080" cy="402336"/>
          </a:xfrm>
          <a:prstGeom prst="rect">
            <a:avLst/>
          </a:prstGeom>
          <a:solidFill>
            <a:srgbClr val="0F3D3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594360" y="4138200"/>
            <a:ext cx="64008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704088" y="418392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704088" y="4183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183920"/>
            <a:ext cx="292608" cy="29260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1417320" y="4193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triggers MCP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1417320" y="439423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F6E4"/>
                </a:solidFill>
              </a:rPr>
              <a:t>Fires actions on external tools</a:t>
            </a:r>
            <a:endParaRPr lang="en-US" sz="800" dirty="0"/>
          </a:p>
        </p:txBody>
      </p:sp>
      <p:sp>
        <p:nvSpPr>
          <p:cNvPr id="52" name="Shape 45"/>
          <p:cNvSpPr/>
          <p:nvPr/>
        </p:nvSpPr>
        <p:spPr>
          <a:xfrm>
            <a:off x="3520440" y="4339368"/>
            <a:ext cx="58733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3602736" y="4138200"/>
            <a:ext cx="422738" cy="15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D9488"/>
                </a:solidFill>
              </a:rPr>
              <a:t>triggers →</a:t>
            </a:r>
            <a:endParaRPr lang="en-US" sz="750" dirty="0"/>
          </a:p>
        </p:txBody>
      </p:sp>
      <p:sp>
        <p:nvSpPr>
          <p:cNvPr id="54" name="Shape 47"/>
          <p:cNvSpPr/>
          <p:nvPr/>
        </p:nvSpPr>
        <p:spPr>
          <a:xfrm>
            <a:off x="4107770" y="4138200"/>
            <a:ext cx="1102906" cy="402336"/>
          </a:xfrm>
          <a:prstGeom prst="rect">
            <a:avLst/>
          </a:prstGeom>
          <a:solidFill>
            <a:srgbClr val="4A103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4107770" y="4138200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4199210" y="417477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Slack</a:t>
            </a:r>
            <a:endParaRPr lang="en-US" sz="1000" dirty="0"/>
          </a:p>
        </p:txBody>
      </p:sp>
      <p:sp>
        <p:nvSpPr>
          <p:cNvPr id="57" name="Text 50"/>
          <p:cNvSpPr/>
          <p:nvPr/>
        </p:nvSpPr>
        <p:spPr>
          <a:xfrm>
            <a:off x="4199210" y="4375944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9A8D4"/>
                </a:solidFill>
              </a:rPr>
              <a:t>Notify customer</a:t>
            </a:r>
            <a:endParaRPr lang="en-US" sz="750" dirty="0"/>
          </a:p>
        </p:txBody>
      </p:sp>
      <p:sp>
        <p:nvSpPr>
          <p:cNvPr id="58" name="Shape 51"/>
          <p:cNvSpPr/>
          <p:nvPr/>
        </p:nvSpPr>
        <p:spPr>
          <a:xfrm>
            <a:off x="5292972" y="4138200"/>
            <a:ext cx="1152144" cy="402336"/>
          </a:xfrm>
          <a:prstGeom prst="rect">
            <a:avLst/>
          </a:prstGeom>
          <a:solidFill>
            <a:srgbClr val="0A2744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5292972" y="4138200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5384412" y="417477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Jira</a:t>
            </a:r>
            <a:endParaRPr lang="en-US" sz="1000" dirty="0"/>
          </a:p>
        </p:txBody>
      </p:sp>
      <p:sp>
        <p:nvSpPr>
          <p:cNvPr id="61" name="Text 54"/>
          <p:cNvSpPr/>
          <p:nvPr/>
        </p:nvSpPr>
        <p:spPr>
          <a:xfrm>
            <a:off x="5384412" y="4375944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3C5FD"/>
                </a:solidFill>
              </a:rPr>
              <a:t>Case ticket</a:t>
            </a:r>
            <a:endParaRPr lang="en-US" sz="750" dirty="0"/>
          </a:p>
        </p:txBody>
      </p:sp>
      <p:sp>
        <p:nvSpPr>
          <p:cNvPr id="62" name="Shape 55"/>
          <p:cNvSpPr/>
          <p:nvPr/>
        </p:nvSpPr>
        <p:spPr>
          <a:xfrm>
            <a:off x="6527412" y="4138200"/>
            <a:ext cx="1152144" cy="402336"/>
          </a:xfrm>
          <a:prstGeom prst="rect">
            <a:avLst/>
          </a:prstGeom>
          <a:solidFill>
            <a:srgbClr val="1A2E0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6527412" y="4138200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6618852" y="417477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 Banking</a:t>
            </a:r>
            <a:endParaRPr lang="en-US" sz="1000" dirty="0"/>
          </a:p>
        </p:txBody>
      </p:sp>
      <p:sp>
        <p:nvSpPr>
          <p:cNvPr id="65" name="Text 58"/>
          <p:cNvSpPr/>
          <p:nvPr/>
        </p:nvSpPr>
        <p:spPr>
          <a:xfrm>
            <a:off x="6618852" y="4375944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6EFAC"/>
                </a:solidFill>
              </a:rPr>
              <a:t>Flag account</a:t>
            </a:r>
            <a:endParaRPr lang="en-US" sz="750" dirty="0"/>
          </a:p>
        </p:txBody>
      </p:sp>
      <p:sp>
        <p:nvSpPr>
          <p:cNvPr id="66" name="Shape 59"/>
          <p:cNvSpPr/>
          <p:nvPr/>
        </p:nvSpPr>
        <p:spPr>
          <a:xfrm>
            <a:off x="7761852" y="4138200"/>
            <a:ext cx="1152144" cy="402336"/>
          </a:xfrm>
          <a:prstGeom prst="rect">
            <a:avLst/>
          </a:prstGeom>
          <a:solidFill>
            <a:srgbClr val="2D1B69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7761852" y="4138200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7853292" y="417477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Email</a:t>
            </a:r>
            <a:endParaRPr lang="en-US" sz="1000" dirty="0"/>
          </a:p>
        </p:txBody>
      </p:sp>
      <p:sp>
        <p:nvSpPr>
          <p:cNvPr id="69" name="Text 62"/>
          <p:cNvSpPr/>
          <p:nvPr/>
        </p:nvSpPr>
        <p:spPr>
          <a:xfrm>
            <a:off x="7853292" y="4375944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4B5FD"/>
                </a:solidFill>
              </a:rPr>
              <a:t>Alert risk team</a:t>
            </a:r>
            <a:endParaRPr lang="en-US" sz="750" dirty="0"/>
          </a:p>
        </p:txBody>
      </p:sp>
      <p:sp>
        <p:nvSpPr>
          <p:cNvPr id="70" name="Shape 63"/>
          <p:cNvSpPr/>
          <p:nvPr/>
        </p:nvSpPr>
        <p:spPr>
          <a:xfrm>
            <a:off x="164592" y="4828032"/>
            <a:ext cx="8814816" cy="21945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164592" y="4828032"/>
            <a:ext cx="8814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Result:  Account flagged  ·  Customer notified  ·  Jira case created  ·  Risk team alerted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421</Words>
  <Application>Microsoft Office PowerPoint</Application>
  <PresentationFormat>On-screen Show (16:9)</PresentationFormat>
  <Paragraphs>89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AI</dc:title>
  <dc:subject>PptxGenJS Presentation</dc:subject>
  <dc:creator>PptxGenJS</dc:creator>
  <cp:lastModifiedBy>monisha radjou</cp:lastModifiedBy>
  <cp:revision>3</cp:revision>
  <dcterms:created xsi:type="dcterms:W3CDTF">2026-04-14T21:25:15Z</dcterms:created>
  <dcterms:modified xsi:type="dcterms:W3CDTF">2026-04-14T21:45:33Z</dcterms:modified>
</cp:coreProperties>
</file>